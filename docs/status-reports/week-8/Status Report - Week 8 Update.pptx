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dk1" bg2="dk2" folHlink="folHlink" hlink="hlink" tx1="lt1" tx2="lt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1943100"/>
            <a:ext cx="7937500" cy="711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500"/>
              </a:lnSpc>
              <a:buNone/>
            </a:pPr>
            <a:r>
              <a:rPr sz="4400" b="1" lang="en-US">
                <a:solidFill>
                  <a:srgbClr val="FFFFFF"/>
                </a:solidFill>
                <a:latin typeface="Arial"/>
              </a:rPr>
              <a:t>Status Report</a:t>
            </a:r>
            <a:endParaRPr sz="4400" b="1" lang="en-US"/>
          </a:p>
        </p:txBody>
      </p:sp>
      <p:sp>
        <p:nvSpPr>
          <p:cNvPr id="3" name="Text 3"/>
          <p:cNvSpPr txBox="1"/>
          <p:nvPr/>
        </p:nvSpPr>
        <p:spPr>
          <a:xfrm>
            <a:off x="609600" y="2679700"/>
            <a:ext cx="7937500" cy="711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500"/>
              </a:lnSpc>
              <a:buNone/>
            </a:pPr>
            <a:r>
              <a:rPr sz="4400" b="1" lang="en-US">
                <a:solidFill>
                  <a:srgbClr val="FFFFFF"/>
                </a:solidFill>
                <a:latin typeface="Arial"/>
              </a:rPr>
              <a:t>Week 8</a:t>
            </a:r>
            <a:endParaRPr sz="4400" b="1" lang="en-US"/>
          </a:p>
        </p:txBody>
      </p:sp>
      <p:sp>
        <p:nvSpPr>
          <p:cNvPr id="4" name="Text 4"/>
          <p:cNvSpPr txBox="1"/>
          <p:nvPr/>
        </p:nvSpPr>
        <p:spPr>
          <a:xfrm>
            <a:off x="609600" y="3695700"/>
            <a:ext cx="7937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50"/>
              </a:lnSpc>
              <a:buNone/>
            </a:pPr>
            <a:r>
              <a:rPr sz="2200" b="0" lang="en-US">
                <a:solidFill>
                  <a:srgbClr val="FFFFFF"/>
                </a:solidFill>
                <a:latin typeface="Arial"/>
              </a:rPr>
              <a:t>JetRover Autonomous Retrieval</a:t>
            </a:r>
            <a:endParaRPr sz="2200" b="0" lang="en-US"/>
          </a:p>
        </p:txBody>
      </p:sp>
      <p:sp>
        <p:nvSpPr>
          <p:cNvPr id="5" name="Text 5"/>
          <p:cNvSpPr txBox="1"/>
          <p:nvPr/>
        </p:nvSpPr>
        <p:spPr>
          <a:xfrm>
            <a:off x="609600" y="4394200"/>
            <a:ext cx="7937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5"/>
              </a:lnSpc>
              <a:buNone/>
            </a:pPr>
            <a:r>
              <a:rPr sz="1700" b="0" lang="en-US">
                <a:solidFill>
                  <a:srgbClr val="FFFFFF"/>
                </a:solidFill>
                <a:latin typeface="Arial"/>
              </a:rPr>
              <a:t>Andy Estrada and Riley Barclay</a:t>
            </a:r>
            <a:endParaRPr sz="1700" b="0"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7937500" cy="60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750"/>
              </a:lnSpc>
              <a:buNone/>
            </a:pPr>
            <a:r>
              <a:rPr sz="3000" b="1" lang="en-US">
                <a:solidFill>
                  <a:srgbClr val="FFFFFF"/>
                </a:solidFill>
                <a:latin typeface="Arial"/>
              </a:rPr>
              <a:t>Project Goal &amp; Starting Point</a:t>
            </a:r>
            <a:endParaRPr sz="3000" b="1"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4478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Goal: find an object, drive to it, pick it up, and bring it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back to the starting location.</a:t>
            </a:r>
            <a:endParaRPr sz="2000" b="0"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2860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Manual driving had previously worked on the robot.</a:t>
            </a:r>
            <a:endParaRPr sz="2000" b="0"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28067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Existing code supported color detection, approach, and basic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arm actions.</a:t>
            </a:r>
            <a:endParaRPr sz="2000" b="0" lang="en-US"/>
          </a:p>
        </p:txBody>
      </p:sp>
      <p:sp>
        <p:nvSpPr>
          <p:cNvPr id="6" name="Text 6"/>
          <p:cNvSpPr txBox="1"/>
          <p:nvPr/>
        </p:nvSpPr>
        <p:spPr>
          <a:xfrm>
            <a:off x="685800" y="36449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This week focused on software; the robot was unavailable.</a:t>
            </a:r>
            <a:endParaRPr sz="2000" b="0" lang="en-US"/>
          </a:p>
        </p:txBody>
      </p:sp>
      <p:sp>
        <p:nvSpPr>
          <p:cNvPr id="7" name="Text 7"/>
          <p:cNvSpPr txBox="1"/>
          <p:nvPr/>
        </p:nvSpPr>
        <p:spPr>
          <a:xfrm>
            <a:off x="8191500" y="47879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5"/>
              </a:lnSpc>
              <a:buNone/>
            </a:pPr>
            <a:r>
              <a:rPr sz="1100" b="0" lang="en-US">
                <a:solidFill>
                  <a:srgbClr val="FFFFFF"/>
                </a:solidFill>
                <a:latin typeface="Arial"/>
              </a:rPr>
              <a:t>2</a:t>
            </a:r>
            <a:endParaRPr sz="1100" b="0" lang="en-US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7937500" cy="60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750"/>
              </a:lnSpc>
              <a:buNone/>
            </a:pPr>
            <a:r>
              <a:rPr sz="3000" b="1" lang="en-US">
                <a:solidFill>
                  <a:srgbClr val="FFFFFF"/>
                </a:solidFill>
                <a:latin typeface="Arial"/>
              </a:rPr>
              <a:t>Work Completed This Week</a:t>
            </a:r>
            <a:endParaRPr sz="3000" b="1"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4478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Reviewed the repository and robot driver interfaces.</a:t>
            </a:r>
            <a:endParaRPr sz="2000" b="0"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19685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Implemented a mission that saves the starting position and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heading.</a:t>
            </a:r>
            <a:endParaRPr sz="2000" b="0"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28067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Added odometry-based return navigation and placement at home.</a:t>
            </a:r>
            <a:endParaRPr sz="2000" b="0" lang="en-US"/>
          </a:p>
        </p:txBody>
      </p:sp>
      <p:sp>
        <p:nvSpPr>
          <p:cNvPr id="6" name="Text 6"/>
          <p:cNvSpPr txBox="1"/>
          <p:nvPr/>
        </p:nvSpPr>
        <p:spPr>
          <a:xfrm>
            <a:off x="685800" y="33274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Updated configuration, launch options, and operating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instructions.</a:t>
            </a:r>
            <a:endParaRPr sz="2000" b="0" lang="en-US"/>
          </a:p>
        </p:txBody>
      </p:sp>
      <p:sp>
        <p:nvSpPr>
          <p:cNvPr id="7" name="Text 7"/>
          <p:cNvSpPr txBox="1"/>
          <p:nvPr/>
        </p:nvSpPr>
        <p:spPr>
          <a:xfrm>
            <a:off x="8191500" y="47879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5"/>
              </a:lnSpc>
              <a:buNone/>
            </a:pPr>
            <a:r>
              <a:rPr sz="1100" b="0" lang="en-US">
                <a:solidFill>
                  <a:srgbClr val="FFFFFF"/>
                </a:solidFill>
                <a:latin typeface="Arial"/>
              </a:rPr>
              <a:t>3</a:t>
            </a:r>
            <a:endParaRPr sz="1100" b="0" lang="en-US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7937500" cy="60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750"/>
              </a:lnSpc>
              <a:buNone/>
            </a:pPr>
            <a:r>
              <a:rPr sz="3000" b="1" lang="en-US">
                <a:solidFill>
                  <a:srgbClr val="FFFFFF"/>
                </a:solidFill>
                <a:latin typeface="Arial"/>
              </a:rPr>
              <a:t>Updated Mission Flow</a:t>
            </a:r>
            <a:endParaRPr sz="3000" b="1" lang="en-US"/>
          </a:p>
        </p:txBody>
      </p:sp>
      <p:sp>
        <p:nvSpPr>
          <p:cNvPr id="3" name="Text 3"/>
          <p:cNvSpPr txBox="1"/>
          <p:nvPr/>
        </p:nvSpPr>
        <p:spPr>
          <a:xfrm>
            <a:off x="609600" y="1346200"/>
            <a:ext cx="79375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buNone/>
            </a:pPr>
            <a:r>
              <a:rPr sz="1800" b="1" lang="en-US">
                <a:solidFill>
                  <a:srgbClr val="FFFFFF"/>
                </a:solidFill>
                <a:latin typeface="Arial"/>
              </a:rPr>
              <a:t>Save home &gt; Search &gt; Align &gt; Approach &gt; Pick</a:t>
            </a:r>
            <a:br>
              <a:rPr sz="1800" b="1" lang="en-US"/>
            </a:br>
            <a:r>
              <a:rPr sz="1800" b="1" lang="en-US">
                <a:solidFill>
                  <a:srgbClr val="FFFFFF"/>
                </a:solidFill>
                <a:latin typeface="Arial"/>
              </a:rPr>
              <a:t>Confirm pickup &gt; Return home &gt; Place &gt; Complete</a:t>
            </a:r>
            <a:endParaRPr sz="1800" b="1"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286000"/>
            <a:ext cx="7810500" cy="336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250"/>
              </a:lnSpc>
              <a:buChar char="•"/>
            </a:pPr>
            <a:r>
              <a:rPr sz="1800" b="0" lang="en-US">
                <a:solidFill>
                  <a:srgbClr val="FFFFFF"/>
                </a:solidFill>
                <a:latin typeface="Arial"/>
              </a:rPr>
              <a:t>Camera detection tracks a red, green, or blue object.</a:t>
            </a:r>
            <a:endParaRPr sz="1800" b="0"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2724150"/>
            <a:ext cx="7810500" cy="336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250"/>
              </a:lnSpc>
              <a:buChar char="•"/>
            </a:pPr>
            <a:r>
              <a:rPr sz="1800" b="0" lang="en-US">
                <a:solidFill>
                  <a:srgbClr val="FFFFFF"/>
                </a:solidFill>
                <a:latin typeface="Arial"/>
              </a:rPr>
              <a:t>Depth readings guide alignment and approach to pickup range.</a:t>
            </a:r>
            <a:endParaRPr sz="1800" b="0" lang="en-US"/>
          </a:p>
        </p:txBody>
      </p:sp>
      <p:sp>
        <p:nvSpPr>
          <p:cNvPr id="6" name="Text 6"/>
          <p:cNvSpPr txBox="1"/>
          <p:nvPr/>
        </p:nvSpPr>
        <p:spPr>
          <a:xfrm>
            <a:off x="685800" y="3162300"/>
            <a:ext cx="7810500" cy="336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250"/>
              </a:lnSpc>
              <a:buChar char="•"/>
            </a:pPr>
            <a:r>
              <a:rPr sz="1800" b="0" lang="en-US">
                <a:solidFill>
                  <a:srgbClr val="FFFFFF"/>
                </a:solidFill>
                <a:latin typeface="Arial"/>
              </a:rPr>
              <a:t>The arm lifts the object into a carrying pose.</a:t>
            </a:r>
            <a:endParaRPr sz="1800" b="0" lang="en-US"/>
          </a:p>
        </p:txBody>
      </p:sp>
      <p:sp>
        <p:nvSpPr>
          <p:cNvPr id="7" name="Text 7"/>
          <p:cNvSpPr txBox="1"/>
          <p:nvPr/>
        </p:nvSpPr>
        <p:spPr>
          <a:xfrm>
            <a:off x="685800" y="3600450"/>
            <a:ext cx="7810500" cy="336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250"/>
              </a:lnSpc>
              <a:buChar char="•"/>
            </a:pPr>
            <a:r>
              <a:rPr sz="1800" b="0" lang="en-US">
                <a:solidFill>
                  <a:srgbClr val="FFFFFF"/>
                </a:solidFill>
                <a:latin typeface="Arial"/>
              </a:rPr>
              <a:t>The robot returns to its saved pose before placing it.</a:t>
            </a:r>
            <a:endParaRPr sz="1800" b="0" lang="en-US"/>
          </a:p>
        </p:txBody>
      </p:sp>
      <p:sp>
        <p:nvSpPr>
          <p:cNvPr id="8" name="Text 8"/>
          <p:cNvSpPr txBox="1"/>
          <p:nvPr/>
        </p:nvSpPr>
        <p:spPr>
          <a:xfrm>
            <a:off x="8191500" y="47879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5"/>
              </a:lnSpc>
              <a:buNone/>
            </a:pPr>
            <a:r>
              <a:rPr sz="1100" b="0" lang="en-US">
                <a:solidFill>
                  <a:srgbClr val="FFFFFF"/>
                </a:solidFill>
                <a:latin typeface="Arial"/>
              </a:rPr>
              <a:t>4</a:t>
            </a:r>
            <a:endParaRPr sz="1100" b="0" lang="en-US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7937500" cy="60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750"/>
              </a:lnSpc>
              <a:buNone/>
            </a:pPr>
            <a:r>
              <a:rPr sz="3000" b="1" lang="en-US">
                <a:solidFill>
                  <a:srgbClr val="FFFFFF"/>
                </a:solidFill>
                <a:latin typeface="Arial"/>
              </a:rPr>
              <a:t>Control &amp; Reliability Improvements</a:t>
            </a:r>
            <a:endParaRPr sz="3000" b="1"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4478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Added explicit start/stop controls and mission status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reporting.</a:t>
            </a:r>
            <a:endParaRPr sz="2000" b="0"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2860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Added sensor freshness checks and movement timeouts.</a:t>
            </a:r>
            <a:endParaRPr sz="2000" b="0"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28067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Removed forward movement without valid depth.</a:t>
            </a:r>
            <a:endParaRPr sz="2000" b="0" lang="en-US"/>
          </a:p>
        </p:txBody>
      </p:sp>
      <p:sp>
        <p:nvSpPr>
          <p:cNvPr id="6" name="Text 6"/>
          <p:cNvSpPr txBox="1"/>
          <p:nvPr/>
        </p:nvSpPr>
        <p:spPr>
          <a:xfrm>
            <a:off x="685800" y="33274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Made arm actions responsive to stop requests; added gripper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limits and a chassis command timeout.</a:t>
            </a:r>
            <a:endParaRPr sz="2000" b="0" lang="en-US"/>
          </a:p>
        </p:txBody>
      </p:sp>
      <p:sp>
        <p:nvSpPr>
          <p:cNvPr id="7" name="Text 7"/>
          <p:cNvSpPr txBox="1"/>
          <p:nvPr/>
        </p:nvSpPr>
        <p:spPr>
          <a:xfrm>
            <a:off x="8191500" y="47879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5"/>
              </a:lnSpc>
              <a:buNone/>
            </a:pPr>
            <a:r>
              <a:rPr sz="1100" b="0" lang="en-US">
                <a:solidFill>
                  <a:srgbClr val="FFFFFF"/>
                </a:solidFill>
                <a:latin typeface="Arial"/>
              </a:rPr>
              <a:t>5</a:t>
            </a:r>
            <a:endParaRPr sz="1100" b="0" lang="en-US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7937500" cy="60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750"/>
              </a:lnSpc>
              <a:buNone/>
            </a:pPr>
            <a:r>
              <a:rPr sz="3000" b="1" lang="en-US">
                <a:solidFill>
                  <a:srgbClr val="FFFFFF"/>
                </a:solidFill>
                <a:latin typeface="Arial"/>
              </a:rPr>
              <a:t>Current Status &amp; Limitations</a:t>
            </a:r>
            <a:endParaRPr sz="3000" b="1"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4478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Initial implementation is complete; no builds or tests have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been run.</a:t>
            </a:r>
            <a:endParaRPr sz="2000" b="0"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2860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Pickup confirmation requires an operator by default.</a:t>
            </a:r>
            <a:endParaRPr sz="2000" b="0"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28067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Automatic return can be enabled, but pickup then remains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unverified.</a:t>
            </a:r>
            <a:endParaRPr sz="2000" b="0" lang="en-US"/>
          </a:p>
        </p:txBody>
      </p:sp>
      <p:sp>
        <p:nvSpPr>
          <p:cNvPr id="6" name="Text 6"/>
          <p:cNvSpPr txBox="1"/>
          <p:nvPr/>
        </p:nvSpPr>
        <p:spPr>
          <a:xfrm>
            <a:off x="685800" y="36449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Return assumes a clear route. Obstacle avoidance and physical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return accuracy remain unresolved.</a:t>
            </a:r>
            <a:endParaRPr sz="2000" b="0" lang="en-US"/>
          </a:p>
        </p:txBody>
      </p:sp>
      <p:sp>
        <p:nvSpPr>
          <p:cNvPr id="7" name="Text 7"/>
          <p:cNvSpPr txBox="1"/>
          <p:nvPr/>
        </p:nvSpPr>
        <p:spPr>
          <a:xfrm>
            <a:off x="8191500" y="47879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5"/>
              </a:lnSpc>
              <a:buNone/>
            </a:pPr>
            <a:r>
              <a:rPr sz="1100" b="0" lang="en-US">
                <a:solidFill>
                  <a:srgbClr val="FFFFFF"/>
                </a:solidFill>
                <a:latin typeface="Arial"/>
              </a:rPr>
              <a:t>6</a:t>
            </a:r>
            <a:endParaRPr sz="1100" b="0" lang="en-US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7937500" cy="60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750"/>
              </a:lnSpc>
              <a:buNone/>
            </a:pPr>
            <a:r>
              <a:rPr sz="3000" b="1" lang="en-US">
                <a:solidFill>
                  <a:srgbClr val="FFFFFF"/>
                </a:solidFill>
                <a:latin typeface="Arial"/>
              </a:rPr>
              <a:t>Next Steps</a:t>
            </a:r>
            <a:endParaRPr sz="3000" b="1"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4478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Install the mission package and updated chassis driver on the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robot.</a:t>
            </a:r>
            <a:endParaRPr sz="2000" b="0"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2860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Confirm sensor topics and camera/depth registration.</a:t>
            </a:r>
            <a:endParaRPr sz="2000" b="0"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2806700"/>
            <a:ext cx="7810500" cy="368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Calibrate pickup distance, arm poses, and gripper settings.</a:t>
            </a:r>
            <a:endParaRPr sz="2000" b="0" lang="en-US"/>
          </a:p>
        </p:txBody>
      </p:sp>
      <p:sp>
        <p:nvSpPr>
          <p:cNvPr id="6" name="Text 6"/>
          <p:cNvSpPr txBox="1"/>
          <p:nvPr/>
        </p:nvSpPr>
        <p:spPr>
          <a:xfrm>
            <a:off x="685800" y="33274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marL="190500" indent="-190500">
              <a:lnSpc>
                <a:spcPts val="2500"/>
              </a:lnSpc>
              <a:buChar char="•"/>
            </a:pPr>
            <a:r>
              <a:rPr sz="2000" b="0" lang="en-US">
                <a:solidFill>
                  <a:srgbClr val="FFFFFF"/>
                </a:solidFill>
                <a:latin typeface="Arial"/>
              </a:rPr>
              <a:t>Check stopping and short return trips, then run a supervised</a:t>
            </a:r>
            <a:br>
              <a:rPr sz="2000" b="0" lang="en-US"/>
            </a:br>
            <a:r>
              <a:rPr sz="2000" b="0" lang="en-US">
                <a:solidFill>
                  <a:srgbClr val="FFFFFF"/>
                </a:solidFill>
                <a:latin typeface="Arial"/>
              </a:rPr>
              <a:t>retrieval mission.</a:t>
            </a:r>
            <a:endParaRPr sz="2000" b="0" lang="en-US"/>
          </a:p>
        </p:txBody>
      </p:sp>
      <p:sp>
        <p:nvSpPr>
          <p:cNvPr id="7" name="Text 7"/>
          <p:cNvSpPr txBox="1"/>
          <p:nvPr/>
        </p:nvSpPr>
        <p:spPr>
          <a:xfrm>
            <a:off x="8191500" y="47879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5"/>
              </a:lnSpc>
              <a:buNone/>
            </a:pPr>
            <a:r>
              <a:rPr sz="1100" b="0" lang="en-US">
                <a:solidFill>
                  <a:srgbClr val="FFFFFF"/>
                </a:solidFill>
                <a:latin typeface="Arial"/>
              </a:rPr>
              <a:t>7</a:t>
            </a:r>
            <a:endParaRPr sz="1100" b="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 black">
  <a:themeElements>
    <a:clrScheme name="Black and whit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PowerPoint</Application>
  <PresentationFormat>On-screen Show (16:9)</PresentationFormat>
  <Slides>7</Slides>
</Properties>
</file>

<file path=docProps/core.xml><?xml version="1.0" encoding="utf-8"?>
<cp:coreProperties xmlns:cp="http://schemas.openxmlformats.org/package/2006/metadata/core-properties" xmlns:dc="http://purl.org/dc/elements/1.1/">
  <dc:title>Status Report - Week 8</dc:title>
  <dc:creator>Andy Estrada and Riley Barclay</dc:creator>
  <dc:description>JetRover weekly software development update. Hardware testing deferred.</dc:description>
</cp:coreProperties>
</file>